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30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310" r:id="rId24"/>
    <p:sldId id="277" r:id="rId25"/>
    <p:sldId id="278" r:id="rId26"/>
    <p:sldId id="306" r:id="rId27"/>
    <p:sldId id="307" r:id="rId28"/>
    <p:sldId id="308" r:id="rId29"/>
    <p:sldId id="309" r:id="rId30"/>
    <p:sldId id="305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5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682"/>
  </p:normalViewPr>
  <p:slideViewPr>
    <p:cSldViewPr>
      <p:cViewPr varScale="1">
        <p:scale>
          <a:sx n="119" d="100"/>
          <a:sy n="119" d="100"/>
        </p:scale>
        <p:origin x="123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78326CF1-6441-2FA4-9D6F-49CEEF7A68C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9331" name="Rectangle 3">
            <a:extLst>
              <a:ext uri="{FF2B5EF4-FFF2-40B4-BE49-F238E27FC236}">
                <a16:creationId xmlns:a16="http://schemas.microsoft.com/office/drawing/2014/main" id="{275038C3-063A-7C43-44DB-2F0504C9983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3F0C21A5-51E5-F00F-7E98-DAE3ED6851A7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9333" name="Rectangle 5">
            <a:extLst>
              <a:ext uri="{FF2B5EF4-FFF2-40B4-BE49-F238E27FC236}">
                <a16:creationId xmlns:a16="http://schemas.microsoft.com/office/drawing/2014/main" id="{71E988CC-CD56-5881-E38A-30FFABFA1E14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9334" name="Rectangle 6">
            <a:extLst>
              <a:ext uri="{FF2B5EF4-FFF2-40B4-BE49-F238E27FC236}">
                <a16:creationId xmlns:a16="http://schemas.microsoft.com/office/drawing/2014/main" id="{03E0C6EB-52BA-8184-24C5-26D94250EFC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9335" name="Rectangle 7">
            <a:extLst>
              <a:ext uri="{FF2B5EF4-FFF2-40B4-BE49-F238E27FC236}">
                <a16:creationId xmlns:a16="http://schemas.microsoft.com/office/drawing/2014/main" id="{020B70D3-6CFC-1954-A146-557A1F3E4B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16B714E-08EC-C748-A460-132E2E065949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7509764-36D1-5793-66F5-1FBE91EA12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5E76325-B91A-409B-C807-03C95CEF88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FB828C5-EA40-A228-9AB9-2A0F7CB3F8E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3BF255-56D2-4D4D-AEFB-F40DA6E1BF2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6227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5FDE05E-5A0F-FE27-57E1-CAE3E13F80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E8D5F4A-3157-5744-9726-7F416C409ED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AB1E1C9-6107-A882-040F-C7196B75B4C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64AFBC-0889-DB47-8F10-92D9F06DD77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5262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2067542-FBEB-0E9D-0FAB-CB22BB86844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04633CD-E763-F64B-630F-7D00B3AD340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40271F4-192E-1C1A-18F4-77989EC7F44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6EAD206-14F0-DC4D-82B7-6C08C319248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5810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A24-3884-B08B-7718-34A4F139721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242426-51C9-2F9B-95D8-E5CA35B6100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60FF67-B382-58F9-B04A-80F4B8E8C4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A92AC6-93B0-2D48-8B48-926A1ECA156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320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78864F1-7ED4-E0D4-FFE7-A1AD9116BA5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43FE524E-5E08-7615-7DD1-B6565668B15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9A873FDC-5A10-6796-57F2-591EA970D3C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D14A218-262A-6A4D-AD54-9D479B91098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4072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A56C894-C6C4-A17F-D152-E061B97F0AA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D90BA2B-EA4F-1CB9-2F5A-DCC9E9F7B1D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6EBB5F-B44E-875B-C8C9-7FAFFE74022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E4F280-E35A-F543-8479-0CCA27BF1EA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44994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05A0A855-E503-0E00-6871-D35B166CD6B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7B327050-1F63-2582-83A2-E573ED7F45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59683F7B-5D70-B20E-049A-7CC504BDA8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49F2ED6-EF28-7C4A-9C76-91AFE1B8A6C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15599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4E5B2-3CE1-20C5-54C1-C7595DE3F3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2AE4B2-383B-8FA2-B1C4-63121878F2D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756C58-C97E-3203-7B68-B7649B17E85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C387BDD-A48C-884D-AA72-D38F3E29C45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64411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8EFD72-C52A-56D6-00AD-E0731780EFB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EC15DF-B0F0-6C23-D67F-06141C657E9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967D8B-3C7E-7265-0E05-D319317E9D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7C7C8C-C283-4D43-949D-7753CBBB2A6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4209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D076EB4-C2A5-A7F5-2642-6628B2AABB9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56C21FB-516D-CAD1-48A9-8ABF1950886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E50E92C-FC62-0EAE-8A79-3CC8EF6EBB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E625D8D-FA32-ED4E-BC64-E25D222DB71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87764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2361574-CFB2-54C2-D206-25B97583C4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672E615-B0D5-59D6-F85C-3C6AF86B46B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C9D14CD-9316-AF6A-DAA4-2FB41314563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6BE2261-7DC3-1F46-A318-427830FD57F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1957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8C49EE8E-D958-FF46-9DF2-56C9529E9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3BA9BB0D-DF4A-56EC-9F7E-ACE67EB135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3F52D05A-011D-CF50-7D81-D6BB97A4F9F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smtClean="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522EF1B-FD13-FFE5-AA33-3C40CE7077A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/>
              <a:t>CS-708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2B735588-8128-96FD-4350-DA52D660D30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BA170222-93B6-FD46-80E1-9459A18D5A06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A6A58AE4-0F36-899B-B6A4-D99F6A0952C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en-US" sz="4400" dirty="0"/>
              <a:t>Discrete Structure</a:t>
            </a:r>
            <a:br>
              <a:rPr lang="en-US" altLang="en-US" dirty="0"/>
            </a:br>
            <a:r>
              <a:rPr lang="en-US" b="1" dirty="0"/>
              <a:t>Applications of Logic</a:t>
            </a:r>
            <a:endParaRPr lang="en-US" altLang="en-US" dirty="0"/>
          </a:p>
        </p:txBody>
      </p:sp>
      <p:sp>
        <p:nvSpPr>
          <p:cNvPr id="15362" name="Subtitle 2">
            <a:extLst>
              <a:ext uri="{FF2B5EF4-FFF2-40B4-BE49-F238E27FC236}">
                <a16:creationId xmlns:a16="http://schemas.microsoft.com/office/drawing/2014/main" id="{8991B18E-96B9-5E3D-A203-1E80202C7789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Week 4</a:t>
            </a:r>
          </a:p>
          <a:p>
            <a:pPr eaLnBrk="1" hangingPunct="1"/>
            <a:r>
              <a:rPr lang="en-US" altLang="en-US" dirty="0"/>
              <a:t>By </a:t>
            </a:r>
          </a:p>
          <a:p>
            <a:pPr eaLnBrk="1" hangingPunct="1"/>
            <a:r>
              <a:rPr lang="en-US" altLang="en-US" dirty="0"/>
              <a:t>Dr. Rafiullah Khan</a:t>
            </a:r>
          </a:p>
          <a:p>
            <a:pPr eaLnBrk="1" hangingPunct="1"/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6">
            <a:extLst>
              <a:ext uri="{FF2B5EF4-FFF2-40B4-BE49-F238E27FC236}">
                <a16:creationId xmlns:a16="http://schemas.microsoft.com/office/drawing/2014/main" id="{804E99E9-F41C-D03B-E082-0EABE2A56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Switches in Series – (6 - 1)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3075" name="Picture 4">
            <a:extLst>
              <a:ext uri="{FF2B5EF4-FFF2-40B4-BE49-F238E27FC236}">
                <a16:creationId xmlns:a16="http://schemas.microsoft.com/office/drawing/2014/main" id="{658D3B92-11D3-C977-B92C-CC64A6405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5">
            <a:extLst>
              <a:ext uri="{FF2B5EF4-FFF2-40B4-BE49-F238E27FC236}">
                <a16:creationId xmlns:a16="http://schemas.microsoft.com/office/drawing/2014/main" id="{B486AA23-0CB6-EB7D-195D-DC0EDBE202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Switches in Series – (6 – 1a)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4099" name="Picture 4">
            <a:extLst>
              <a:ext uri="{FF2B5EF4-FFF2-40B4-BE49-F238E27FC236}">
                <a16:creationId xmlns:a16="http://schemas.microsoft.com/office/drawing/2014/main" id="{83BF565D-5144-4D1C-F394-6B3BCB673D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533400"/>
            <a:ext cx="9144000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5">
            <a:extLst>
              <a:ext uri="{FF2B5EF4-FFF2-40B4-BE49-F238E27FC236}">
                <a16:creationId xmlns:a16="http://schemas.microsoft.com/office/drawing/2014/main" id="{EC975C75-658C-A97D-625B-9E0AEEAE43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8600"/>
            <a:ext cx="77724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3600">
                <a:solidFill>
                  <a:srgbClr val="000000"/>
                </a:solidFill>
                <a:cs typeface="Arial" panose="020B0604020202020204" pitchFamily="34" charset="0"/>
              </a:rPr>
              <a:t>Switches in Parallel – (6 – 2)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5123" name="Picture 4">
            <a:extLst>
              <a:ext uri="{FF2B5EF4-FFF2-40B4-BE49-F238E27FC236}">
                <a16:creationId xmlns:a16="http://schemas.microsoft.com/office/drawing/2014/main" id="{518C9533-A585-738A-E8E8-6F14CEEF8A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0960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5">
            <a:extLst>
              <a:ext uri="{FF2B5EF4-FFF2-40B4-BE49-F238E27FC236}">
                <a16:creationId xmlns:a16="http://schemas.microsoft.com/office/drawing/2014/main" id="{C27F9325-5E7C-A28F-67A0-6E5AEAAF3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352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Switches in Series – (6 - 4)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6147" name="Picture 4">
            <a:extLst>
              <a:ext uri="{FF2B5EF4-FFF2-40B4-BE49-F238E27FC236}">
                <a16:creationId xmlns:a16="http://schemas.microsoft.com/office/drawing/2014/main" id="{4D3AFC22-C096-87D6-90E5-4821E0C52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09600"/>
            <a:ext cx="9144000" cy="688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6">
            <a:extLst>
              <a:ext uri="{FF2B5EF4-FFF2-40B4-BE49-F238E27FC236}">
                <a16:creationId xmlns:a16="http://schemas.microsoft.com/office/drawing/2014/main" id="{65DCE8FF-3425-84D3-3C5F-A9018D84CD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82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Switches in Parallel – (6 - 5a)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7171" name="Picture 4">
            <a:extLst>
              <a:ext uri="{FF2B5EF4-FFF2-40B4-BE49-F238E27FC236}">
                <a16:creationId xmlns:a16="http://schemas.microsoft.com/office/drawing/2014/main" id="{645AAEAD-BD2E-E287-B616-5C8F17CA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457200"/>
            <a:ext cx="9144000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5">
            <a:extLst>
              <a:ext uri="{FF2B5EF4-FFF2-40B4-BE49-F238E27FC236}">
                <a16:creationId xmlns:a16="http://schemas.microsoft.com/office/drawing/2014/main" id="{97B9BAC8-8845-006C-00D6-823AEC94E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5876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Not Gate or Inverter – (6 – 7)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8195" name="Picture 4">
            <a:extLst>
              <a:ext uri="{FF2B5EF4-FFF2-40B4-BE49-F238E27FC236}">
                <a16:creationId xmlns:a16="http://schemas.microsoft.com/office/drawing/2014/main" id="{9CE1043D-E23D-39CE-0272-623CE40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53340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5">
            <a:extLst>
              <a:ext uri="{FF2B5EF4-FFF2-40B4-BE49-F238E27FC236}">
                <a16:creationId xmlns:a16="http://schemas.microsoft.com/office/drawing/2014/main" id="{77D05C9C-F61F-9A7A-2CCC-DD8A4EC908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146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AND Gate – (6 - 8)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9219" name="Picture 4">
            <a:extLst>
              <a:ext uri="{FF2B5EF4-FFF2-40B4-BE49-F238E27FC236}">
                <a16:creationId xmlns:a16="http://schemas.microsoft.com/office/drawing/2014/main" id="{EA5052D1-C566-E2EC-C326-6615056D47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457200"/>
            <a:ext cx="9144000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5">
            <a:extLst>
              <a:ext uri="{FF2B5EF4-FFF2-40B4-BE49-F238E27FC236}">
                <a16:creationId xmlns:a16="http://schemas.microsoft.com/office/drawing/2014/main" id="{D4248A1F-DAC9-52A4-11A5-3B8B2AE57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82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OR Gate – (6 - 9)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026" name="Object 4">
            <a:extLst>
              <a:ext uri="{FF2B5EF4-FFF2-40B4-BE49-F238E27FC236}">
                <a16:creationId xmlns:a16="http://schemas.microsoft.com/office/drawing/2014/main" id="{AFA0A127-30E6-35AC-F96B-C0026BB8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350"/>
            <a:ext cx="9144000" cy="6870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5">
            <a:extLst>
              <a:ext uri="{FF2B5EF4-FFF2-40B4-BE49-F238E27FC236}">
                <a16:creationId xmlns:a16="http://schemas.microsoft.com/office/drawing/2014/main" id="{E85F3556-72FB-F9A9-ADBD-F251FEAFA4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Combinational Circuit – (6 - 11)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0243" name="Picture 4">
            <a:extLst>
              <a:ext uri="{FF2B5EF4-FFF2-40B4-BE49-F238E27FC236}">
                <a16:creationId xmlns:a16="http://schemas.microsoft.com/office/drawing/2014/main" id="{CB5B6DB7-B0D5-CE8E-F731-AA776AF59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4800"/>
            <a:ext cx="9144000" cy="655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>
            <a:extLst>
              <a:ext uri="{FF2B5EF4-FFF2-40B4-BE49-F238E27FC236}">
                <a16:creationId xmlns:a16="http://schemas.microsoft.com/office/drawing/2014/main" id="{7BC5C9E3-791E-1AA9-5AFB-880EAD16E5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305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000">
                <a:solidFill>
                  <a:schemeClr val="tx2"/>
                </a:solidFill>
                <a:cs typeface="Arial" panose="020B0604020202020204" pitchFamily="34" charset="0"/>
              </a:rPr>
              <a:t>Output for a Given Input – (6 - 13)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1267" name="Picture 4">
            <a:extLst>
              <a:ext uri="{FF2B5EF4-FFF2-40B4-BE49-F238E27FC236}">
                <a16:creationId xmlns:a16="http://schemas.microsoft.com/office/drawing/2014/main" id="{59739552-DF4A-B2CB-000E-4FF14F1E1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5">
            <a:extLst>
              <a:ext uri="{FF2B5EF4-FFF2-40B4-BE49-F238E27FC236}">
                <a16:creationId xmlns:a16="http://schemas.microsoft.com/office/drawing/2014/main" id="{F563ACDF-1FBE-7312-B0F9-02FB65B41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000">
                <a:solidFill>
                  <a:schemeClr val="tx2"/>
                </a:solidFill>
                <a:cs typeface="Arial" panose="020B0604020202020204" pitchFamily="34" charset="0"/>
              </a:rPr>
              <a:t>Input/Output Table for a Circuit – (6 – 14)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2291" name="Picture 4">
            <a:extLst>
              <a:ext uri="{FF2B5EF4-FFF2-40B4-BE49-F238E27FC236}">
                <a16:creationId xmlns:a16="http://schemas.microsoft.com/office/drawing/2014/main" id="{5FBBDFE9-3130-1FAF-BA25-66F13D895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5">
            <a:extLst>
              <a:ext uri="{FF2B5EF4-FFF2-40B4-BE49-F238E27FC236}">
                <a16:creationId xmlns:a16="http://schemas.microsoft.com/office/drawing/2014/main" id="{4B005A12-917A-1774-37E3-89A14B121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352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Table for Circuit – (6 – 16c)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3315" name="Picture 4">
            <a:extLst>
              <a:ext uri="{FF2B5EF4-FFF2-40B4-BE49-F238E27FC236}">
                <a16:creationId xmlns:a16="http://schemas.microsoft.com/office/drawing/2014/main" id="{8BB04017-0620-8632-BA45-5A0EDE91F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5">
            <a:extLst>
              <a:ext uri="{FF2B5EF4-FFF2-40B4-BE49-F238E27FC236}">
                <a16:creationId xmlns:a16="http://schemas.microsoft.com/office/drawing/2014/main" id="{D01E8557-9495-C1A7-F172-2C658433F2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352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Table for Circuit – (6 – 16a)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4339" name="Picture 4">
            <a:extLst>
              <a:ext uri="{FF2B5EF4-FFF2-40B4-BE49-F238E27FC236}">
                <a16:creationId xmlns:a16="http://schemas.microsoft.com/office/drawing/2014/main" id="{15DDA7D7-26DE-6E7C-F7F6-CC634C7C4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457200"/>
            <a:ext cx="9144000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5">
            <a:extLst>
              <a:ext uri="{FF2B5EF4-FFF2-40B4-BE49-F238E27FC236}">
                <a16:creationId xmlns:a16="http://schemas.microsoft.com/office/drawing/2014/main" id="{03B0FB1C-EF5A-5270-3026-C34CEC667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352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Table for Circuit – (6 – 16b)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5363" name="Picture 4">
            <a:extLst>
              <a:ext uri="{FF2B5EF4-FFF2-40B4-BE49-F238E27FC236}">
                <a16:creationId xmlns:a16="http://schemas.microsoft.com/office/drawing/2014/main" id="{E3AC180B-535C-F293-854C-6C87D1FBB5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>
            <a:extLst>
              <a:ext uri="{FF2B5EF4-FFF2-40B4-BE49-F238E27FC236}">
                <a16:creationId xmlns:a16="http://schemas.microsoft.com/office/drawing/2014/main" id="{6AF1948C-447D-FE4B-A92B-8D64CE4EF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305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Table for Circuit – (6 – 16)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6387" name="Picture 4">
            <a:extLst>
              <a:ext uri="{FF2B5EF4-FFF2-40B4-BE49-F238E27FC236}">
                <a16:creationId xmlns:a16="http://schemas.microsoft.com/office/drawing/2014/main" id="{AA6BDCA1-37F8-CE42-9C4E-721C2ACE5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5">
            <a:extLst>
              <a:ext uri="{FF2B5EF4-FFF2-40B4-BE49-F238E27FC236}">
                <a16:creationId xmlns:a16="http://schemas.microsoft.com/office/drawing/2014/main" id="{01B30A8B-8A24-346D-3D7B-E0AF2EEEAA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000">
                <a:solidFill>
                  <a:schemeClr val="tx2"/>
                </a:solidFill>
                <a:cs typeface="Arial" panose="020B0604020202020204" pitchFamily="34" charset="0"/>
              </a:rPr>
              <a:t>Boolean Expression for a Circuit – (6 – 18)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7411" name="Picture 4">
            <a:extLst>
              <a:ext uri="{FF2B5EF4-FFF2-40B4-BE49-F238E27FC236}">
                <a16:creationId xmlns:a16="http://schemas.microsoft.com/office/drawing/2014/main" id="{F70E1C98-B912-8084-6CB3-6874D3972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5">
            <a:extLst>
              <a:ext uri="{FF2B5EF4-FFF2-40B4-BE49-F238E27FC236}">
                <a16:creationId xmlns:a16="http://schemas.microsoft.com/office/drawing/2014/main" id="{3E45D973-1F28-84A0-E3C0-5E82BE925B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000">
                <a:solidFill>
                  <a:schemeClr val="tx2"/>
                </a:solidFill>
                <a:cs typeface="Arial" panose="020B0604020202020204" pitchFamily="34" charset="0"/>
              </a:rPr>
              <a:t>Boolean Expression for a Circuit – (6 - 19)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8435" name="Picture 4">
            <a:extLst>
              <a:ext uri="{FF2B5EF4-FFF2-40B4-BE49-F238E27FC236}">
                <a16:creationId xmlns:a16="http://schemas.microsoft.com/office/drawing/2014/main" id="{E343F85E-CE6B-CDB1-A28F-41A2E552F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53340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5">
            <a:extLst>
              <a:ext uri="{FF2B5EF4-FFF2-40B4-BE49-F238E27FC236}">
                <a16:creationId xmlns:a16="http://schemas.microsoft.com/office/drawing/2014/main" id="{E3FE8059-EF3C-646B-7450-088FA77D1F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352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000">
                <a:solidFill>
                  <a:schemeClr val="tx2"/>
                </a:solidFill>
                <a:cs typeface="Arial" panose="020B0604020202020204" pitchFamily="34" charset="0"/>
              </a:rPr>
              <a:t>Circuit for a Boolean Expression – (6 – 20)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19459" name="Picture 4">
            <a:extLst>
              <a:ext uri="{FF2B5EF4-FFF2-40B4-BE49-F238E27FC236}">
                <a16:creationId xmlns:a16="http://schemas.microsoft.com/office/drawing/2014/main" id="{2A6FD9CA-F131-6547-7FE6-F54D936C5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5">
            <a:extLst>
              <a:ext uri="{FF2B5EF4-FFF2-40B4-BE49-F238E27FC236}">
                <a16:creationId xmlns:a16="http://schemas.microsoft.com/office/drawing/2014/main" id="{24FAF8FE-592E-799B-D8A3-834F5A9EA7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555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000">
                <a:solidFill>
                  <a:schemeClr val="tx2"/>
                </a:solidFill>
                <a:cs typeface="Arial" panose="020B0604020202020204" pitchFamily="34" charset="0"/>
              </a:rPr>
              <a:t>Circuit for Input/Output Table – (6 – 21)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0483" name="Picture 4">
            <a:extLst>
              <a:ext uri="{FF2B5EF4-FFF2-40B4-BE49-F238E27FC236}">
                <a16:creationId xmlns:a16="http://schemas.microsoft.com/office/drawing/2014/main" id="{0E1FA232-8B61-805D-497B-452335026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457200"/>
            <a:ext cx="9144000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5">
            <a:extLst>
              <a:ext uri="{FF2B5EF4-FFF2-40B4-BE49-F238E27FC236}">
                <a16:creationId xmlns:a16="http://schemas.microsoft.com/office/drawing/2014/main" id="{F996F272-70FC-71A6-BDD4-F4067A2B1A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Solution – (6 - 22)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1507" name="Picture 4">
            <a:extLst>
              <a:ext uri="{FF2B5EF4-FFF2-40B4-BE49-F238E27FC236}">
                <a16:creationId xmlns:a16="http://schemas.microsoft.com/office/drawing/2014/main" id="{733A63E4-56D3-E700-3AE3-E57B8260F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48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5">
            <a:extLst>
              <a:ext uri="{FF2B5EF4-FFF2-40B4-BE49-F238E27FC236}">
                <a16:creationId xmlns:a16="http://schemas.microsoft.com/office/drawing/2014/main" id="{04502CA1-1B05-9E42-9314-A68DF1BB2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82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Circuit Diagram – (6 – 23)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2531" name="Picture 4">
            <a:extLst>
              <a:ext uri="{FF2B5EF4-FFF2-40B4-BE49-F238E27FC236}">
                <a16:creationId xmlns:a16="http://schemas.microsoft.com/office/drawing/2014/main" id="{F26C9FCF-9C1D-3358-F39C-F58EB22E0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07B5FDC-DEBD-DE99-AC89-3C22C9420D46}"/>
              </a:ext>
            </a:extLst>
          </p:cNvPr>
          <p:cNvSpPr/>
          <p:nvPr/>
        </p:nvSpPr>
        <p:spPr>
          <a:xfrm>
            <a:off x="1066800" y="1981200"/>
            <a:ext cx="7239000" cy="3352800"/>
          </a:xfrm>
          <a:prstGeom prst="roundRect">
            <a:avLst/>
          </a:prstGeom>
          <a:solidFill>
            <a:srgbClr val="9452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Create Circuit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AE80A11-55AF-9EB9-6E49-65361C3FB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5">
            <a:extLst>
              <a:ext uri="{FF2B5EF4-FFF2-40B4-BE49-F238E27FC236}">
                <a16:creationId xmlns:a16="http://schemas.microsoft.com/office/drawing/2014/main" id="{77127981-228A-7EFD-496C-A10339DF24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82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Circuit Diagram – (6 – 23)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2531" name="Picture 4">
            <a:extLst>
              <a:ext uri="{FF2B5EF4-FFF2-40B4-BE49-F238E27FC236}">
                <a16:creationId xmlns:a16="http://schemas.microsoft.com/office/drawing/2014/main" id="{CA953A12-DA5B-8148-EC7C-30EDB3840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41887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5">
            <a:extLst>
              <a:ext uri="{FF2B5EF4-FFF2-40B4-BE49-F238E27FC236}">
                <a16:creationId xmlns:a16="http://schemas.microsoft.com/office/drawing/2014/main" id="{53F11A3E-F9FA-B772-6780-FF32819BE7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Solution – (6 - 22)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3555" name="Picture 4">
            <a:extLst>
              <a:ext uri="{FF2B5EF4-FFF2-40B4-BE49-F238E27FC236}">
                <a16:creationId xmlns:a16="http://schemas.microsoft.com/office/drawing/2014/main" id="{C09366F0-0964-724D-FC72-AC3D7DC7A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48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5">
            <a:extLst>
              <a:ext uri="{FF2B5EF4-FFF2-40B4-BE49-F238E27FC236}">
                <a16:creationId xmlns:a16="http://schemas.microsoft.com/office/drawing/2014/main" id="{24933E8B-B1C9-4D31-E3F5-1B5223C400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82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Circuit Diagram – (6 – 23)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4579" name="Picture 4">
            <a:extLst>
              <a:ext uri="{FF2B5EF4-FFF2-40B4-BE49-F238E27FC236}">
                <a16:creationId xmlns:a16="http://schemas.microsoft.com/office/drawing/2014/main" id="{BB3FFBC1-5895-86D2-1DE0-E33296AF9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457200"/>
            <a:ext cx="9144000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07257C-B35A-0476-4896-6750F547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Circuits from the following Expressions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779F97-BC94-CD0D-575F-B214FE31EC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AU" dirty="0"/>
              <a:t>(P∧Q)∨(¬P∧Q)∧(P∧¬Q) </a:t>
            </a:r>
          </a:p>
          <a:p>
            <a:pPr marL="514350" indent="-514350">
              <a:buFont typeface="+mj-lt"/>
              <a:buAutoNum type="arabicPeriod"/>
            </a:pPr>
            <a:r>
              <a:rPr lang="en-AU" dirty="0"/>
              <a:t>(P∨Q)∧(P∨¬R)∧(¬Q∨R) </a:t>
            </a:r>
          </a:p>
          <a:p>
            <a:pPr marL="514350" indent="-514350">
              <a:buFont typeface="+mj-lt"/>
              <a:buAutoNum type="arabicPeriod"/>
            </a:pPr>
            <a:r>
              <a:rPr lang="en-AU" dirty="0"/>
              <a:t>(P∨Q)∧(¬P∨Q)∧(P∨¬Q)</a:t>
            </a:r>
          </a:p>
          <a:p>
            <a:pPr marL="514350" indent="-514350">
              <a:buFont typeface="+mj-lt"/>
              <a:buAutoNum type="arabicPeriod"/>
            </a:pPr>
            <a:r>
              <a:rPr lang="en-AU" dirty="0"/>
              <a:t>(¬P∧¬Q)∨(P∧Q)∨(P∧¬Q) </a:t>
            </a:r>
          </a:p>
          <a:p>
            <a:pPr marL="514350" indent="-514350">
              <a:buFont typeface="+mj-lt"/>
              <a:buAutoNum type="arabicPeriod"/>
            </a:pPr>
            <a:r>
              <a:rPr lang="en-AU" dirty="0"/>
              <a:t>(¬P∨Q)∧(P∧¬Q)∧(¬P∨¬Q) 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6513C6-FE3B-EC07-E5F1-201C06BAE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9F2ED6-EF28-7C4A-9C76-91AFE1B8A6C0}" type="slidenum">
              <a:rPr lang="en-US" altLang="en-US" smtClean="0"/>
              <a:pPr/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653100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51635-1CF3-036B-5AB6-B154DD69A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the following circuit into Logical Statements (1)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2CBECA-F6AA-4880-B752-5C0AF93BD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4AFBC-0889-DB47-8F10-92D9F06DD77D}" type="slidenum">
              <a:rPr lang="en-US" altLang="en-US" smtClean="0"/>
              <a:pPr/>
              <a:t>27</a:t>
            </a:fld>
            <a:endParaRPr lang="en-US" altLang="en-US"/>
          </a:p>
        </p:txBody>
      </p:sp>
      <p:pic>
        <p:nvPicPr>
          <p:cNvPr id="1026" name="Picture 2" descr="A semiconductor gate circuit in need of simplification.">
            <a:extLst>
              <a:ext uri="{FF2B5EF4-FFF2-40B4-BE49-F238E27FC236}">
                <a16:creationId xmlns:a16="http://schemas.microsoft.com/office/drawing/2014/main" id="{F11340AA-EB15-B884-C1C3-23ADE9C78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3158" y="1905000"/>
            <a:ext cx="6357684" cy="356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60478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48A-9986-F1E1-2DB8-307B0B85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446C-FBAD-AB7E-21D1-6713906C2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the following circuit into Logical Statements (2)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7BAAE1-AFA2-3C75-B543-0C0F4AE4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4AFBC-0889-DB47-8F10-92D9F06DD77D}" type="slidenum">
              <a:rPr lang="en-US" altLang="en-US" smtClean="0"/>
              <a:pPr/>
              <a:t>28</a:t>
            </a:fld>
            <a:endParaRPr lang="en-US" altLang="en-US"/>
          </a:p>
        </p:txBody>
      </p:sp>
      <p:pic>
        <p:nvPicPr>
          <p:cNvPr id="3074" name="Picture 2" descr="Craig Stuntz - Building a Synthesizer, Chapter 6: The Logic Circuits Model  of Computation">
            <a:extLst>
              <a:ext uri="{FF2B5EF4-FFF2-40B4-BE49-F238E27FC236}">
                <a16:creationId xmlns:a16="http://schemas.microsoft.com/office/drawing/2014/main" id="{561BDA97-51F0-06B7-FD92-D00A000AC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1828800"/>
            <a:ext cx="7543800" cy="404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44048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F58B-C315-6D0A-D81F-175A7F254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7379-99CC-9D05-CC85-C25BD96A8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the following circuit into Logical Statements (3)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70D5B5-CF03-4895-440D-1F4EC6383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64AFBC-0889-DB47-8F10-92D9F06DD77D}" type="slidenum">
              <a:rPr lang="en-US" altLang="en-US" smtClean="0"/>
              <a:pPr/>
              <a:t>29</a:t>
            </a:fld>
            <a:endParaRPr lang="en-US" altLang="en-US"/>
          </a:p>
        </p:txBody>
      </p:sp>
      <p:pic>
        <p:nvPicPr>
          <p:cNvPr id="5124" name="Picture 4" descr="Lab 8: Logic Circuits">
            <a:extLst>
              <a:ext uri="{FF2B5EF4-FFF2-40B4-BE49-F238E27FC236}">
                <a16:creationId xmlns:a16="http://schemas.microsoft.com/office/drawing/2014/main" id="{893B6DE0-8DAA-9F7E-3026-73D64BD0A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341" y="2072481"/>
            <a:ext cx="7899400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87426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2FCBCD-268E-5267-8D8E-679580575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747962"/>
            <a:ext cx="7772400" cy="1362075"/>
          </a:xfrm>
        </p:spPr>
        <p:txBody>
          <a:bodyPr/>
          <a:lstStyle/>
          <a:p>
            <a:r>
              <a:rPr lang="en-US" dirty="0"/>
              <a:t>Home Practice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420D7B-DCEB-46FE-9EFD-5C91A438A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9F2ED6-EF28-7C4A-9C76-91AFE1B8A6C0}" type="slidenum">
              <a:rPr lang="en-US" altLang="en-US" smtClean="0"/>
              <a:pPr/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332210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6">
            <a:extLst>
              <a:ext uri="{FF2B5EF4-FFF2-40B4-BE49-F238E27FC236}">
                <a16:creationId xmlns:a16="http://schemas.microsoft.com/office/drawing/2014/main" id="{3E40882F-AA1B-BFAA-C112-44AB104265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352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Exercise – (6 – 24b)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5603" name="Picture 4">
            <a:extLst>
              <a:ext uri="{FF2B5EF4-FFF2-40B4-BE49-F238E27FC236}">
                <a16:creationId xmlns:a16="http://schemas.microsoft.com/office/drawing/2014/main" id="{410A8C91-57DB-DAA6-6C3A-A0844202B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533400"/>
            <a:ext cx="9144000" cy="678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5">
            <a:extLst>
              <a:ext uri="{FF2B5EF4-FFF2-40B4-BE49-F238E27FC236}">
                <a16:creationId xmlns:a16="http://schemas.microsoft.com/office/drawing/2014/main" id="{7928ADAF-A7EC-D8FB-AF4C-DF764F5B3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82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Exercise - (6 - 24)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6627" name="Picture 4">
            <a:extLst>
              <a:ext uri="{FF2B5EF4-FFF2-40B4-BE49-F238E27FC236}">
                <a16:creationId xmlns:a16="http://schemas.microsoft.com/office/drawing/2014/main" id="{C0513D01-A39E-8CCF-000D-C01845DBD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48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6">
            <a:extLst>
              <a:ext uri="{FF2B5EF4-FFF2-40B4-BE49-F238E27FC236}">
                <a16:creationId xmlns:a16="http://schemas.microsoft.com/office/drawing/2014/main" id="{9F6ADE52-07F7-F326-DE33-0585AB491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511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Solution – (6 - 25)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7651" name="Picture 4">
            <a:extLst>
              <a:ext uri="{FF2B5EF4-FFF2-40B4-BE49-F238E27FC236}">
                <a16:creationId xmlns:a16="http://schemas.microsoft.com/office/drawing/2014/main" id="{EE4DC69A-CFFE-6CAC-0FF1-1387EE539A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28600"/>
            <a:ext cx="9144000" cy="655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6">
            <a:extLst>
              <a:ext uri="{FF2B5EF4-FFF2-40B4-BE49-F238E27FC236}">
                <a16:creationId xmlns:a16="http://schemas.microsoft.com/office/drawing/2014/main" id="{EDB25116-3C01-2CBA-38F0-463053D3AA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828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Exercise – (6 - 27)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8675" name="Picture 4">
            <a:extLst>
              <a:ext uri="{FF2B5EF4-FFF2-40B4-BE49-F238E27FC236}">
                <a16:creationId xmlns:a16="http://schemas.microsoft.com/office/drawing/2014/main" id="{AD1BC685-5D53-68FC-C48C-2C7DADE1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48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6">
            <a:extLst>
              <a:ext uri="{FF2B5EF4-FFF2-40B4-BE49-F238E27FC236}">
                <a16:creationId xmlns:a16="http://schemas.microsoft.com/office/drawing/2014/main" id="{7E58EDFF-6C79-A270-2BD4-3027CF432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6352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Solution – (6 - 28)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29699" name="Picture 4">
            <a:extLst>
              <a:ext uri="{FF2B5EF4-FFF2-40B4-BE49-F238E27FC236}">
                <a16:creationId xmlns:a16="http://schemas.microsoft.com/office/drawing/2014/main" id="{391BB3A0-B16F-0A3F-D006-95DC666E5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4800"/>
            <a:ext cx="9144000" cy="662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6">
            <a:extLst>
              <a:ext uri="{FF2B5EF4-FFF2-40B4-BE49-F238E27FC236}">
                <a16:creationId xmlns:a16="http://schemas.microsoft.com/office/drawing/2014/main" id="{0F060653-8237-FB1F-0309-DA140053D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Solution – (6 - 29)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30723" name="Picture 4">
            <a:extLst>
              <a:ext uri="{FF2B5EF4-FFF2-40B4-BE49-F238E27FC236}">
                <a16:creationId xmlns:a16="http://schemas.microsoft.com/office/drawing/2014/main" id="{1A67A21E-0DF6-3B18-9BEC-40AED1448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6">
            <a:extLst>
              <a:ext uri="{FF2B5EF4-FFF2-40B4-BE49-F238E27FC236}">
                <a16:creationId xmlns:a16="http://schemas.microsoft.com/office/drawing/2014/main" id="{5B0AC7B8-2DF2-3325-4743-E753F7A73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5876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4400">
                <a:solidFill>
                  <a:schemeClr val="tx2"/>
                </a:solidFill>
                <a:cs typeface="Arial" panose="020B0604020202020204" pitchFamily="34" charset="0"/>
              </a:rPr>
              <a:t>Solution – (6 – 29a)</a:t>
            </a:r>
            <a:endParaRPr lang="en-US" altLang="en-US" sz="4400">
              <a:solidFill>
                <a:schemeClr val="tx2"/>
              </a:solidFill>
            </a:endParaRPr>
          </a:p>
        </p:txBody>
      </p:sp>
      <p:pic>
        <p:nvPicPr>
          <p:cNvPr id="31747" name="Picture 4">
            <a:extLst>
              <a:ext uri="{FF2B5EF4-FFF2-40B4-BE49-F238E27FC236}">
                <a16:creationId xmlns:a16="http://schemas.microsoft.com/office/drawing/2014/main" id="{E0D83C55-D03D-CD50-4831-7CEAEFF2F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81000"/>
            <a:ext cx="9144000" cy="670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421</Words>
  <Application>Microsoft Macintosh PowerPoint</Application>
  <PresentationFormat>On-screen Show (4:3)</PresentationFormat>
  <Paragraphs>51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9" baseType="lpstr">
      <vt:lpstr>Arial</vt:lpstr>
      <vt:lpstr>Default Design</vt:lpstr>
      <vt:lpstr>Discrete Structure Applications of Logic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Create Circuits from the following Expressions</vt:lpstr>
      <vt:lpstr>Convert the following circuit into Logical Statements (1)</vt:lpstr>
      <vt:lpstr>Convert the following circuit into Logical Statements (2)</vt:lpstr>
      <vt:lpstr>Convert the following circuit into Logical Statements (3)</vt:lpstr>
      <vt:lpstr>Home Practice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Nazir</dc:creator>
  <cp:lastModifiedBy>rafiullah khan</cp:lastModifiedBy>
  <cp:revision>18</cp:revision>
  <dcterms:created xsi:type="dcterms:W3CDTF">2007-10-22T09:32:50Z</dcterms:created>
  <dcterms:modified xsi:type="dcterms:W3CDTF">2025-10-09T08:46:36Z</dcterms:modified>
</cp:coreProperties>
</file>